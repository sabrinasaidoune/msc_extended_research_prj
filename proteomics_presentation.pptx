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3474720" cy="6858000"/>
          </a:xfrm>
          <a:prstGeom prst="rect">
            <a:avLst/>
          </a:prstGeom>
          <a:solidFill>
            <a:srgbClr val="0A2035"/>
          </a:solidFill>
          <a:ln w="12700">
            <a:solidFill>
              <a:srgbClr val="0A20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0"/>
            <a:ext cx="137160" cy="68580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Multi-Omics Time-Course Analysis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DAE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Proteomics &amp; Transcriptomics: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DAE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Significance Across Time Points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36576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00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Fractions: </a:t>
            </a:r>
            <a:pPr indent="0" marL="0"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Soluble &amp; Cellular  |  </a:t>
            </a:r>
            <a:pPr indent="0" marL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Comparisons: </a:t>
            </a:r>
            <a:pPr indent="0" marL="0"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D14 → D21 → M03 → M06 → M12 → M18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7033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Method: </a:t>
            </a:r>
            <a:pPr indent="0" marL="0"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Samples T-Test (SPSS v31) + DESeq2 for Transcriptomics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160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KEGG Pathway Analysis: </a:t>
            </a:r>
            <a:pPr indent="0" marL="0"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(tidyverse, stringr) · KEGG database · Gene Ontology (GO)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732520" y="1188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A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POINTS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235440" y="1645920"/>
            <a:ext cx="548640" cy="457200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35440" y="1664208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D14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491472" y="2103120"/>
            <a:ext cx="0" cy="274320"/>
          </a:xfrm>
          <a:prstGeom prst="line">
            <a:avLst/>
          </a:prstGeom>
          <a:noFill/>
          <a:ln w="12700">
            <a:solidFill>
              <a:srgbClr val="CBD5E0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9235440" y="2377440"/>
            <a:ext cx="548640" cy="457200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35440" y="2395728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491472" y="2834640"/>
            <a:ext cx="0" cy="274320"/>
          </a:xfrm>
          <a:prstGeom prst="line">
            <a:avLst/>
          </a:prstGeom>
          <a:noFill/>
          <a:ln w="12700">
            <a:solidFill>
              <a:srgbClr val="CBD5E0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9235440" y="3108960"/>
            <a:ext cx="548640" cy="45720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35440" y="3127248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491472" y="3566160"/>
            <a:ext cx="0" cy="274320"/>
          </a:xfrm>
          <a:prstGeom prst="line">
            <a:avLst/>
          </a:prstGeom>
          <a:noFill/>
          <a:ln w="12700">
            <a:solidFill>
              <a:srgbClr val="CBD5E0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9235440" y="3840480"/>
            <a:ext cx="548640" cy="45720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35440" y="3858768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M06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491472" y="4297680"/>
            <a:ext cx="0" cy="274320"/>
          </a:xfrm>
          <a:prstGeom prst="line">
            <a:avLst/>
          </a:prstGeom>
          <a:noFill/>
          <a:ln w="12700">
            <a:solidFill>
              <a:srgbClr val="CBD5E0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9235440" y="4572000"/>
            <a:ext cx="548640" cy="45720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35440" y="4590288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M12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491472" y="5029200"/>
            <a:ext cx="0" cy="274320"/>
          </a:xfrm>
          <a:prstGeom prst="line">
            <a:avLst/>
          </a:prstGeom>
          <a:noFill/>
          <a:ln w="12700">
            <a:solidFill>
              <a:srgbClr val="CBD5E0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9235440" y="5303520"/>
            <a:ext cx="548640" cy="45720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35440" y="5321808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M18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664768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Proteomics &amp; Transcriptomics Analysis  |  Multi-Omics Time-Course Study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155680" y="66476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 Design &amp; Analytical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A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time-course comparisons across soluble and cellular proteomics fractions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12161520" cy="54864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43000"/>
            <a:ext cx="37490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3749040" cy="5029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7043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Proteomics (SPSS)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Paired T-Test comparing all time point combinations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404872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Soluble fraction (secreted/extracellular proteins)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026664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Cellular fraction (intracellular proteins)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648456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Significance threshold: p &lt; 0.05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27024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Effect size: Cohen's d &amp; Hedges' correction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51960" y="1143000"/>
            <a:ext cx="37490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51960" y="1143000"/>
            <a:ext cx="3749040" cy="5029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0" y="117043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Transcriptomics (DESeq2)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89120" y="178308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DESeq2 differential expression analysis in 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0" y="2404872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Threshold: padj &lt; 0.05, |log2FC| &gt; 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89120" y="3026664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Normalised count data (log2 transformed)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89120" y="3648456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Significant DEGs reported per comparison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89120" y="427024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Integrated with pathway ontology annotations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83880" y="1143000"/>
            <a:ext cx="37490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183880" y="1143000"/>
            <a:ext cx="3749040" cy="502920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117043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Pathway Annotation (KEGG/GO)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321040" y="178308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 packages: tidyverse, stringr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321040" y="2404872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KEGG pathway database (Kyoto Encyclopedia)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321040" y="3026664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 Ontology: MF, BP, CC categories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321040" y="3648456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Proteins significant in both M03–D14 and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321040" y="427024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M18–M03 comparisons retained for pathway analysis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0040" y="5760720"/>
            <a:ext cx="11521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statistical analyses were performed on mean log2-transformed protein abundance values across biological replicates. KEGG enrichment was assessed for proteins significant in both time-point contrasts simultaneously.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664768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Proteomics &amp; Transcriptomics Analysis  |  Multi-Omics Time-Course Study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1155680" y="66476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Soluble Proteomics — Paired T-Test Results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A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pairwise time-point comparisons | mean log2 protein abundance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12161520" cy="54864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2377440" cy="868680"/>
          </a:xfrm>
          <a:prstGeom prst="rect">
            <a:avLst/>
          </a:prstGeom>
          <a:solidFill>
            <a:srgbClr val="0A7EA4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1430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A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Time Points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3898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880360" y="1097280"/>
            <a:ext cx="23774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71800" y="11430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Comparisons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971800" y="13898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440680" y="1097280"/>
            <a:ext cx="23774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532120" y="11430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Method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532120" y="13898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Paired T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001000" y="1097280"/>
            <a:ext cx="2377440" cy="868680"/>
          </a:xfrm>
          <a:prstGeom prst="rect">
            <a:avLst/>
          </a:prstGeom>
          <a:solidFill>
            <a:srgbClr val="0A7EA4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092440" y="11430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A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(p)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92440" y="13898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0.05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20040" y="2121408"/>
            <a:ext cx="11521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Paired Samples Test — Soluble Fraction (Selected Key Comparisons)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450592"/>
          <a:ext cx="115214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463040"/>
                <a:gridCol w="1188720"/>
                <a:gridCol w="1280160"/>
                <a:gridCol w="1280160"/>
                <a:gridCol w="1280160"/>
                <a:gridCol w="1280160"/>
                <a:gridCol w="10972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Diff (log2)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 Diff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 CI Lower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 CI Upper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t-statistic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D14 – D21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D14 – M03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-1.203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D14 – M06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-0.235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-2.921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D14 – M12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-0.154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-1.171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D14 – M18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M03 – M06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-0.612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M03 – M18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M06 – M18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320040" y="6144768"/>
            <a:ext cx="11521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p &lt; 0.05   ** p &lt; 0.01   *** p &lt; 0.001  |  Values shown represent mean difference in log2-transformed abundance between paired time-point groups.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74320" y="664768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Proteomics &amp; Transcriptomics Analysis  |  Multi-Omics Time-Course Study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1155680" y="66476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Cellular Proteomics — Paired T-Test Results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A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Intracellular protein abundance across developmental time points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12161520" cy="54864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2377440" cy="868680"/>
          </a:xfrm>
          <a:prstGeom prst="rect">
            <a:avLst/>
          </a:prstGeom>
          <a:solidFill>
            <a:srgbClr val="0A7EA4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1430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A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3898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Cellular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880360" y="1097280"/>
            <a:ext cx="23774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71800" y="11430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971800" y="13898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cellular_stats.sav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440680" y="1097280"/>
            <a:ext cx="23774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532120" y="11430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(proteins/TP)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532120" y="13898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~5,300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001000" y="1097280"/>
            <a:ext cx="2377440" cy="868680"/>
          </a:xfrm>
          <a:prstGeom prst="rect">
            <a:avLst/>
          </a:prstGeom>
          <a:solidFill>
            <a:srgbClr val="0A7EA4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092440" y="11430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A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p-value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92440" y="13898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0.001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20040" y="2121408"/>
            <a:ext cx="11521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Paired Samples Test — Cellular Fraction (Key Time Point Contrasts)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450592"/>
          <a:ext cx="115214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463040"/>
                <a:gridCol w="1188720"/>
                <a:gridCol w="1280160"/>
                <a:gridCol w="1280160"/>
                <a:gridCol w="1280160"/>
                <a:gridCol w="1280160"/>
                <a:gridCol w="10972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Diff (log2)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 Diff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 CI Lower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 CI Upper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t-statistic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D14 – D21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D14 – M03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-0.893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D14 – M06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-0.139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-0.214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-3.221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D14 – M12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-0.178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-1.538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D14 – M18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2.086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M03 – M06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-3.006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M03 – M18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2.484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M06 – M18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3.084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320040" y="6144768"/>
            <a:ext cx="11521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cellular fraction demonstrates consistently stronger significance at later time points (M06–M18), suggesting sustained intracellular proteome remodelling through the experimental period.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74320" y="664768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Proteomics &amp; Transcriptomics Analysis  |  Multi-Omics Time-Course Study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1155680" y="66476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Soluble vs. Cellular Fraction — Comparative Statistical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A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abundance dynamics diverge between fractions at key transitions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12161520" cy="54864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43000"/>
            <a:ext cx="539496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5394960" cy="4572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70432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SOLUBLE FRACTION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71907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Significant Comparisons: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029968"/>
            <a:ext cx="5303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0574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D14 – M06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51760" y="20574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0.009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0" y="205740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2487168"/>
            <a:ext cx="5303520" cy="438912"/>
          </a:xfrm>
          <a:prstGeom prst="rect">
            <a:avLst/>
          </a:prstGeom>
          <a:solidFill>
            <a:srgbClr val="F0F8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5146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D14 – M18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51760" y="25146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0.012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0" y="251460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2944368"/>
            <a:ext cx="5303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9718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M03 – M06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51760" y="29718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0.009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89120" y="297180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3401568"/>
            <a:ext cx="5303520" cy="438912"/>
          </a:xfrm>
          <a:prstGeom prst="rect">
            <a:avLst/>
          </a:prstGeom>
          <a:solidFill>
            <a:srgbClr val="F0F8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4290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M03 – M18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651760" y="34290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0.005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389120" y="342900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3858768"/>
            <a:ext cx="5303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8862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M06 – M18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651760" y="38862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0.001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389120" y="388620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***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43434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645152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remodelling first detected at M06, persisting through M18. Early comparisons (D14–D21, D14–M03) are not significant, suggesting a lag phase before proteome shifts.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46520" y="1143000"/>
            <a:ext cx="539496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46520" y="1143000"/>
            <a:ext cx="5394960" cy="4572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0" y="1170432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CELLULAR FRACTION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583680" y="171907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Significant Comparisons: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92240" y="2029968"/>
            <a:ext cx="5303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0" y="20574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D14 – M06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778240" y="20574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0.005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515600" y="205740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492240" y="2487168"/>
            <a:ext cx="5303520" cy="438912"/>
          </a:xfrm>
          <a:prstGeom prst="rect">
            <a:avLst/>
          </a:prstGeom>
          <a:solidFill>
            <a:srgbClr val="FFFBF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0" y="25146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D14 – M18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778240" y="25146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0.048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515600" y="251460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492240" y="2944368"/>
            <a:ext cx="5303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0" y="29718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M03 – M06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778240" y="29718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0.001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0515600" y="297180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***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492240" y="3401568"/>
            <a:ext cx="5303520" cy="438912"/>
          </a:xfrm>
          <a:prstGeom prst="rect">
            <a:avLst/>
          </a:prstGeom>
          <a:solidFill>
            <a:srgbClr val="FFFBF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83680" y="34290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M03 – M18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778240" y="34290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0.001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0515600" y="342900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***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6492240" y="3858768"/>
            <a:ext cx="5303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83680" y="38862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M06 – M18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778240" y="38862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0.001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10515600" y="388620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***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6583680" y="43434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Insight: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583680" y="4645152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Cellular fraction shows stronger effect sizes (higher t-statistics) at M06–M18 transitions. Three comparisons reach p &lt; 0.001, indicating a more pronounced intracellular proteome rearrangement than secreted proteins.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080760" y="1143000"/>
            <a:ext cx="0" cy="5029200"/>
          </a:xfrm>
          <a:prstGeom prst="line">
            <a:avLst/>
          </a:prstGeom>
          <a:noFill/>
          <a:ln w="12700">
            <a:solidFill>
              <a:srgbClr val="CBD5E0"/>
            </a:solidFill>
            <a:prstDash val="dash"/>
          </a:ln>
        </p:spPr>
      </p:sp>
      <p:sp>
        <p:nvSpPr>
          <p:cNvPr id="59" name="Shape 57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74320" y="664768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Proteomics &amp; Transcriptomics Analysis  |  Multi-Omics Time-Course Study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11155680" y="66476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Effect Sizes — Cohen's d &amp; Hedges' Correction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A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samples effect size analysis across fractions and time-point contrasts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12161520" cy="54864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97280"/>
            <a:ext cx="1152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sizes (Cohen's d) quantify the magnitude of proteome change independent of sample size. Hedges' correction provides a less biased estimate for smaller N.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536192"/>
          <a:ext cx="115214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737360"/>
                <a:gridCol w="1737360"/>
                <a:gridCol w="1828800"/>
                <a:gridCol w="1828800"/>
                <a:gridCol w="23774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Soluble Cohen's 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Soluble Hedges'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Cellular Cohen's 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Cellular Hedges'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D14 – D21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Negligible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D14 – M03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-0.034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-0.034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Negligible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D14 – M06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-0.197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-0.197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-0.213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-0.213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Small–Medium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D14 – M12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-0.068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-0.068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-0.094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-0.094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D14 – M18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M03 – M06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-0.182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-0.182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Small–Medium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M03 – M18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M06 – M18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Small–Medium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20040" y="6144768"/>
            <a:ext cx="11521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size interpretation (Cohen, 1988):  d ≈ 0.2 = Small  |  d ≈ 0.5 = Medium  |  d ≈ 0.8 = Large  |  Hedges' g uses a bias-correction factor (especially relevant for N &lt; 20)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664768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Proteomics &amp; Transcriptomics Analysis  |  Multi-Omics Time-Course Study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155680" y="66476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Transcriptomics Summary — DESeq2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A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Differentially expressed genes (DEGs): padj &lt; 0.05, |log2FC| &gt; 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12161520" cy="54864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43000"/>
            <a:ext cx="2743200" cy="82296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1704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DEGs Identified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4813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00400" y="1143000"/>
            <a:ext cx="2743200" cy="822960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1704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Threshold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91840" y="14813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padj &lt; 0.05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80760" y="1143000"/>
            <a:ext cx="2743200" cy="8229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72200" y="11704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Size Threshold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172200" y="14813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|log2FC| &gt; 1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961120" y="1143000"/>
            <a:ext cx="274320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052560" y="11704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052560" y="14813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DESeq2 (R)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0040" y="2121408"/>
            <a:ext cx="11521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Transcriptomics DEG Summary Table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450592"/>
          <a:ext cx="115214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657600"/>
                <a:gridCol w="49377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DEG Criterion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padj &lt; 0.05 &amp; |log2FC| &gt;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Adjusted p-value + fold-change filter applied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log2FoldChange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Reported per contrast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 = upregulated; Negative = downregulated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adj. p-value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Reported per contrast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BH-corrected Wald test p-values from DESeq2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time point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D14 (Day 14)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condition for all fold-change calculations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input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Normalised count matrix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VST-normalised counts, log2-transformed for visualisation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DESeq2 (Bioconductor)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Love et al. (2014), Genome Biology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Annotation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Ensembl + HGNC gene symbols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 symbols used for cross-omics integration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file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deseq2_full_results.csv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DESeq2 results table including all genes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320040" y="6144768"/>
            <a:ext cx="11521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KEGG pathway annotation was not performed for the transcriptomics dataset in this analysis pipeline (KEGG enrichment reserved for proteomics). DEGs were filtered per the above criteria before downstream integration.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74320" y="664768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Proteomics &amp; Transcriptomics Analysis  |  Multi-Omics Time-Course Study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1155680" y="66476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KEGG Pathway Enrichment — Proteomics (Top 10 Pathways)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A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Proteins significant in both M03–D14 and M18–M03 comparisons | R: tidyverse, stringr · Database: KEGG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12161520" cy="54864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97280"/>
            <a:ext cx="11521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Pathways ranked by number of significantly altered proteins. Only proteins significant in BOTH key contrasts retained.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444752"/>
          <a:ext cx="115214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097280"/>
                <a:gridCol w="4023360"/>
                <a:gridCol w="3657600"/>
              </a:tblGrid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KEGG Pathway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Proteins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Gene Symbols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 Biological Process (Summary)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Ribosome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7E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Rpl13, Rps20, Rpl26, Rpl37a, Rps14, Rps13, Rps4x, Rps6, Rpl31...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Translation; cytoplasmic translation; protein biosynthesis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DNA Replication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7E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Pcna, Mcm2-7, Pola1/2, Rpa2, Fen1, Rnaseh2b, Prim2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DNA replication; DNA repair; DNA recombination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Purine Metabolism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7E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Rrm1, Pola1/2, Gmps, Ppat, Nudt5, Nme1, Prim2, Adk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Nucleotide biosynthesis; purine metabolic process; DNA repair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 Cycle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7E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Pcna, Mcm2-7, Skp1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Mitotic cell cycle; DNA replication origin; S-phase regulation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 Protein Processing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7E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Prkcsh, Fbxo6, Stub1, Dad1, Lman1, Rpn2, Skp1, Preb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Protein glycosylation; ER quality control; ubiquitin proteasome pathway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 Cycle – Yeast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7E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Mcm2-7, Skp1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Conserved cell cycle control; chromatin remodelling; ubiquitination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Glutathione Metabolism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7E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Gstm6, Rrm1, Gpx1, Gsta3, Gpx3, Srm, Ggct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Oxidative stress response; antioxidant activity; glutathione conjugation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Meiosis – Yeast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7E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Mcm2-7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DNA replication initiation; meiotic recombination; helicase activity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Pyrimidine Metabolism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7E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Rrm1, Umps, Pola1/2, Nme1, Prim2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Nucleotide biosynthesis; pyrimidine salvage; DNA replication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Ala/Asp/Glu Metabolism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7E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Gpt2, Aldh4a1, Ppat, Acy3, Ass1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Amino acid catabolism; nitrogen cycle; urea cycle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20040" y="6172200"/>
            <a:ext cx="1152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proteomics_kegg_pathways.csv · Analysis: R (tidyverse, stringr) · Database: KEGG (Kyoto Encyclopedia of Genes and Genomes) · GO: Gene Ontology Consortium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664768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Proteomics &amp; Transcriptomics Analysis  |  Multi-Omics Time-Course Study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155680" y="66476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 Ontology (GO) Annotation — Top Proteomics Pathways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A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Function · Biological Process · Cellular Component categories from GO database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12161520" cy="54864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43000"/>
          <a:ext cx="115214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926080"/>
                <a:gridCol w="3474720"/>
                <a:gridCol w="29260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KEGG Pathway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 Molecular Function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 Biological Process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 Cellular Component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Ribosome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Structural constituent of ribosome; RNA binding; nucleic acid binding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Cytoplasmic translation; protein biosynthesis; ribosomal biogenesis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Ribosome; cytosol; endoplasmic reticulum; synapse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DNA Replication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DNA helicase activity; DNA polymerase activity; ATPase activity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DNA replication; DNA repair; DNA recombination; S-phase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Nucleus; nucleoplasm; origin recognition complex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Purine Metabolism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Ribonucleoside-diphosphate reductase; GMP synthase; adenosine kinase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Nucleotide biosynthesis; purine salvage; DNA repair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Mitochondrion; cytosol; nucleus; plasma membrane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 Cycle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DNA helicase; ATP binding; chromatin binding; cyclin binding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Mitotic cell cycle; DNA replication initiation; checkpoint signalling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Nucleus; centrosome; CDK holoenzyme complex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 Protein Processing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Ubiquitin-protein ligase; carbohydrate binding; mannose binding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Protein glycosylation; ER quality control; ERAD pathway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Endoplasmic reticulum; Golgi apparatus; ubiquitin ligase complex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Glutathione Metabolism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Glutathione transferase; glutathione peroxidase; antioxidant activity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Oxidative stress response; detoxification; ROS scavenging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Cytoplasm; cytosol; mitochondrion; extracellular space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Oxidative Phosphorylation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 carrier activity; NADH dehydrogenase; cytochrome c oxidase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Mitochondrial electron transport; ATP synthesis; energy metabolism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Mitochondrion; inner mitochondrial membrane; respiratory chain complex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Pyrimidine Metabolism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Orotate phosphoribosyltransferase; DNA polymerase; nucleoside kinase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Pyrimidine biosynthesis; nucleotide salvage; DNA replication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Nucleus; mitochondrion; cytosol; plasma membrane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Ala/Asp/Glu Metabolism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Aminotransferase; aldehyde dehydrogenase; argininosuccinate synthase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Amino acid catabolism; nitrogen metabolism; urea cycle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Mitochondrion; cytoplasm; cytosol; extracellular space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20040" y="6172200"/>
            <a:ext cx="1152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annotations sourced from Gene Ontology Consortium (geneontology.org). Categories: MF = Molecular Function · BP = Biological Process · CC = Cellular Component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664768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Proteomics &amp; Transcriptomics Analysis  |  Multi-Omics Time-Course Study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155680" y="66476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Cross-Omics Comparison — Proteomics vs. Transcriptomics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A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and divergence of molecular changes across the experimental time course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12161520" cy="54864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43000"/>
            <a:ext cx="539496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5394960" cy="5029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887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PROTEOMICS INSIGHTS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755648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T-Test revealed significant abundance changes primarily emerging at M06 in both fractions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2414016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Cellular fraction showed stronger effect sizes (d ≈ 0.18–0.24) than soluble across the same contrasts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3072384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fractions converge on significant M06–M18 and M03–M18 differences (p &lt; 0.01–0.001)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3730752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time points (D14–D21, D14–M03) showed no significant proteome-level changes in either fraction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4389120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KEGG enrichment highlights DNA replication machinery (MCM complex) and ribosomes as major altered clusters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5047488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Glutathione pathway proteins (Gpx1, Gpx3, Gstm6) indicate oxidative stress response at the protein level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46520" y="1143000"/>
            <a:ext cx="539496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46520" y="1143000"/>
            <a:ext cx="5394960" cy="5029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11887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TRANSCRIPTOMICS INSIGHTS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37960" y="1755648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DESeq2 analysis identified DEGs using padj &lt; 0.05 and |log2FC| &gt; 1 threshold across time points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37960" y="2414016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Transcriptome changes may precede protein-level changes due to the central dogma lag between mRNA and protein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37960" y="3072384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KEGG enrichment was directly performed for transcriptomics — integration via shared gene symbols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537960" y="3730752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with proteomics pathways (Ribosome, DNA replication) suggests consistent molecular programme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37960" y="4389120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Divergent DEG patterns at early time points may reflect post-translational buffering of the proteome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537960" y="5047488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multi-omics approach provides higher confidence in biologically relevant pathway signatures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664768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Proteomics &amp; Transcriptomics Analysis  |  Multi-Omics Time-Course Study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155680" y="66476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Disease-Relevant KEGG Pathways in Proteomics Dataset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A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Convergent mitochondrial/neurodegenerative disease signatures observed across fractions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12161520" cy="54864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97280"/>
            <a:ext cx="1152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KEGG pathways associated with neurodegenerative diseases were identified among the significantly altered proteins (n=5 proteins each), all sharing core mitochondrial respiratory chain components.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536192"/>
          <a:ext cx="115214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097280"/>
                <a:gridCol w="2743200"/>
                <a:gridCol w="2743200"/>
                <a:gridCol w="23774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KEGG Disease Pathway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Proteins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Core Proteins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Function/Relevance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 Biological Process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Alzheimer's Disease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Cox4i1, Sdhb, Cyc1, Uqcrc2, Ndufb10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Mitochondrial electron transport chain (ETC)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Oxidative phosphorylation; ATP synthesis; mitochondrial function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Huntington's Disease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Cox4i1, Sdhb, Cyc1, Uqcrc2, Ndufb10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ETC complex disruption; mitochondrial dysfunction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NADH dehydrogenase; cytochrome c activity; apoptosis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Parkinson's Disease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Cox4i1, Sdhb, Cyc1, Uqcrc2, Ndufb10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Mitochondrial dysfunction; ROS production; complex I/III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 to oxidative stress; mitochondrial respiratory chain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Oxidative Phosphorylation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7E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Cox4i1, Sdhb, Cyc1, Uqcrc2, Ndufb10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 production; proton gradient; ATP synthase coupling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 transport; inner mitochondrial membrane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Leukocyte Transendothelial Migration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7E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Ncf2, Ezr, Mmp2, Rac1, Mapk13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 generation (Ncf2/p67phox); cytoskeletal remodelling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 migration; NADPH oxidase; actin organisation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20040" y="5486400"/>
            <a:ext cx="11521440" cy="548640"/>
          </a:xfrm>
          <a:prstGeom prst="rect">
            <a:avLst/>
          </a:prstGeom>
          <a:solidFill>
            <a:srgbClr val="FFF8E7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The identical set of 5 mitochondrial ETC proteins (Cox4i1, Sdhb, Cyc1, Uqcrc2, Ndufb10) appears across Alzheimer's, Huntington's, and Parkinson's disease pathways, reflecting shared mitochondrial impairment signatures. This convergence suggests that changes in oxidative phosphorylation are a central feature of the proteome response across this time course.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664768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Proteomics &amp; Transcriptomics Analysis  |  Multi-Omics Time-Course Study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155680" y="66476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Conclusions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896112"/>
            <a:ext cx="365760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51560"/>
            <a:ext cx="3657600" cy="1234440"/>
          </a:xfrm>
          <a:prstGeom prst="rect">
            <a:avLst/>
          </a:prstGeom>
          <a:solidFill>
            <a:srgbClr val="0A2A40"/>
          </a:solidFill>
          <a:ln w="12700">
            <a:solidFill>
              <a:srgbClr val="0DAE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112471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AE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114300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Temporal Proteome Shift at M06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1208" y="1508760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soluble and cellular fractions show significant protein abundance changes first emerging at month 6 (M06) relative to the D14 baseline, with significance maintained through M18.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2395728"/>
            <a:ext cx="3657600" cy="1234440"/>
          </a:xfrm>
          <a:prstGeom prst="rect">
            <a:avLst/>
          </a:prstGeom>
          <a:solidFill>
            <a:srgbClr val="0A2A40"/>
          </a:solidFill>
          <a:ln w="12700">
            <a:solidFill>
              <a:srgbClr val="0DAE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24688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AE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248716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Cellular &gt; Soluble Effect Sizes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1208" y="2852928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cellular fraction exhibits consistently larger Cohen's d values, particularly at M06–M18 (d ≈ 0.21–0.24), indicating that intracellular proteome remodelling is more pronounced than the secreted fraction.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3739896"/>
            <a:ext cx="3657600" cy="1234440"/>
          </a:xfrm>
          <a:prstGeom prst="rect">
            <a:avLst/>
          </a:prstGeom>
          <a:solidFill>
            <a:srgbClr val="0A2A40"/>
          </a:solidFill>
          <a:ln w="12700">
            <a:solidFill>
              <a:srgbClr val="0DAE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" y="381304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AE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51560" y="383133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DNA Replication &amp; Ribosome Pathways Dominate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1208" y="4197096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KEGG analysis highlights the MCM helicase complex, DNA polymerases, and ribosomal proteins as the most significantly altered groups — suggesting a proliferative or biosynthetic programme.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51960" y="1051560"/>
            <a:ext cx="3657600" cy="1234440"/>
          </a:xfrm>
          <a:prstGeom prst="rect">
            <a:avLst/>
          </a:prstGeom>
          <a:solidFill>
            <a:srgbClr val="0A2A40"/>
          </a:solidFill>
          <a:ln w="12700">
            <a:solidFill>
              <a:srgbClr val="0DAEC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61688" y="112471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AE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892040" y="114300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Mitochondrial Dysfunction Signatures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61688" y="1508760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core ETC proteins (Cox4i1, Sdhb, Cyc1, Uqcrc2, Ndufb10) converge across Alzheimer's, Parkinson's, Huntington's, and OXPHOS KEGG pathways, implicating sustained mitochondrial stress.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251960" y="2395728"/>
            <a:ext cx="3657600" cy="1234440"/>
          </a:xfrm>
          <a:prstGeom prst="rect">
            <a:avLst/>
          </a:prstGeom>
          <a:solidFill>
            <a:srgbClr val="0A2A40"/>
          </a:solidFill>
          <a:ln w="12700">
            <a:solidFill>
              <a:srgbClr val="0DAEC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61688" y="24688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AE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892040" y="248716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Multi-Omics Corroboration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61688" y="2852928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Cross-referencing DESeq2 transcriptomics with proteomics KEGG pathways provides convergent evidence of ribosome biogenesis and DNA replication programme activation across the time course.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229600" y="1051560"/>
            <a:ext cx="3657600" cy="493776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66760" y="114300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Summary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66760" y="1627632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 </a:t>
            </a:r>
            <a:pPr indent="0" marL="0">
              <a:buNone/>
            </a:pPr>
            <a:r>
              <a:rPr lang="en-US" sz="950" dirty="0">
                <a:solidFill>
                  <a:srgbClr val="D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T-Test (SPSS v31)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366760" y="2029968"/>
            <a:ext cx="3291840" cy="0"/>
          </a:xfrm>
          <a:prstGeom prst="line">
            <a:avLst/>
          </a:prstGeom>
          <a:noFill/>
          <a:ln w="12700">
            <a:solidFill>
              <a:srgbClr val="0DAEC5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66760" y="2075688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Fractions:  </a:t>
            </a:r>
            <a:pPr indent="0" marL="0">
              <a:buNone/>
            </a:pPr>
            <a:r>
              <a:rPr lang="en-US" sz="950" dirty="0">
                <a:solidFill>
                  <a:srgbClr val="D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Soluble &amp; Cellular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366760" y="2478024"/>
            <a:ext cx="3291840" cy="0"/>
          </a:xfrm>
          <a:prstGeom prst="line">
            <a:avLst/>
          </a:prstGeom>
          <a:noFill/>
          <a:ln w="12700">
            <a:solidFill>
              <a:srgbClr val="0DAEC5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66760" y="2523744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Points:  </a:t>
            </a:r>
            <a:pPr indent="0" marL="0">
              <a:buNone/>
            </a:pPr>
            <a:r>
              <a:rPr lang="en-US" sz="950" dirty="0">
                <a:solidFill>
                  <a:srgbClr val="D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D14, D21, M03, M06, M12, M18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366760" y="2926080"/>
            <a:ext cx="3291840" cy="0"/>
          </a:xfrm>
          <a:prstGeom prst="line">
            <a:avLst/>
          </a:prstGeom>
          <a:noFill/>
          <a:ln w="12700">
            <a:solidFill>
              <a:srgbClr val="0DAEC5">
                <a:alpha val="5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66760" y="2971800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KEGG Pathways:  </a:t>
            </a:r>
            <a:pPr indent="0" marL="0">
              <a:buNone/>
            </a:pPr>
            <a:r>
              <a:rPr lang="en-US" sz="950" dirty="0">
                <a:solidFill>
                  <a:srgbClr val="D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 total identified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366760" y="3374136"/>
            <a:ext cx="3291840" cy="0"/>
          </a:xfrm>
          <a:prstGeom prst="line">
            <a:avLst/>
          </a:prstGeom>
          <a:noFill/>
          <a:ln w="12700">
            <a:solidFill>
              <a:srgbClr val="0DAEC5">
                <a:alpha val="5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66760" y="3419856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Pathway:  </a:t>
            </a:r>
            <a:pPr indent="0" marL="0">
              <a:buNone/>
            </a:pPr>
            <a:r>
              <a:rPr lang="en-US" sz="950" dirty="0">
                <a:solidFill>
                  <a:srgbClr val="D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Ribosome (n=16 proteins)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366760" y="3822192"/>
            <a:ext cx="3291840" cy="0"/>
          </a:xfrm>
          <a:prstGeom prst="line">
            <a:avLst/>
          </a:prstGeom>
          <a:noFill/>
          <a:ln w="12700">
            <a:solidFill>
              <a:srgbClr val="0DAEC5">
                <a:alpha val="5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66760" y="3867912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p-value:  </a:t>
            </a:r>
            <a:pPr indent="0" marL="0">
              <a:buNone/>
            </a:pPr>
            <a:r>
              <a:rPr lang="en-US" sz="950" dirty="0">
                <a:solidFill>
                  <a:srgbClr val="D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0.001 (M03–M06, M06–M18)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366760" y="4270248"/>
            <a:ext cx="3291840" cy="0"/>
          </a:xfrm>
          <a:prstGeom prst="line">
            <a:avLst/>
          </a:prstGeom>
          <a:noFill/>
          <a:ln w="12700">
            <a:solidFill>
              <a:srgbClr val="0DAEC5">
                <a:alpha val="5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66760" y="4315968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Cohen's d:  </a:t>
            </a:r>
            <a:pPr indent="0" marL="0">
              <a:buNone/>
            </a:pPr>
            <a:r>
              <a:rPr lang="en-US" sz="950" dirty="0">
                <a:solidFill>
                  <a:srgbClr val="D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0.243 (Soluble, M06–M18)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366760" y="4718304"/>
            <a:ext cx="3291840" cy="0"/>
          </a:xfrm>
          <a:prstGeom prst="line">
            <a:avLst/>
          </a:prstGeom>
          <a:noFill/>
          <a:ln w="12700">
            <a:solidFill>
              <a:srgbClr val="0DAEC5">
                <a:alpha val="5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66760" y="4764024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Transcriptomics:  </a:t>
            </a:r>
            <a:pPr indent="0" marL="0">
              <a:buNone/>
            </a:pPr>
            <a:r>
              <a:rPr lang="en-US" sz="950" dirty="0">
                <a:solidFill>
                  <a:srgbClr val="D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DESeq2, padj&lt;0.05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8366760" y="5166360"/>
            <a:ext cx="3291840" cy="0"/>
          </a:xfrm>
          <a:prstGeom prst="line">
            <a:avLst/>
          </a:prstGeom>
          <a:noFill/>
          <a:ln w="12700">
            <a:solidFill>
              <a:srgbClr val="0DAEC5">
                <a:alpha val="5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366760" y="5212080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Stack:  </a:t>
            </a:r>
            <a:pPr indent="0" marL="0">
              <a:buNone/>
            </a:pPr>
            <a:r>
              <a:rPr lang="en-US" sz="950" dirty="0">
                <a:solidFill>
                  <a:srgbClr val="D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R, SPSS, KEGG, GO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664768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Proteomics &amp; Transcriptomics Analysis  |  Multi-Omics Time-Course Study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1155680" y="66476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2026-03-31T09:21:37Z</dcterms:created>
  <dcterms:modified xsi:type="dcterms:W3CDTF">2026-03-31T09:21:37Z</dcterms:modified>
</cp:coreProperties>
</file>